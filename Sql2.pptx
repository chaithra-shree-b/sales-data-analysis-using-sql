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60" r:id="rId4"/>
    <p:sldId id="264" r:id="rId5"/>
    <p:sldId id="263" r:id="rId6"/>
    <p:sldId id="262" r:id="rId7"/>
    <p:sldId id="259" r:id="rId8"/>
    <p:sldId id="265" r:id="rId9"/>
    <p:sldId id="25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AA374-98BD-4045-6589-464AEDAF4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556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0C0A27-DFD7-0237-4B64-931FD22B35CF}"/>
              </a:ext>
            </a:extLst>
          </p:cNvPr>
          <p:cNvCxnSpPr/>
          <p:nvPr/>
        </p:nvCxnSpPr>
        <p:spPr>
          <a:xfrm>
            <a:off x="698087" y="3588775"/>
            <a:ext cx="6921911" cy="0"/>
          </a:xfrm>
          <a:prstGeom prst="line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1EB76BB-D2F8-45B5-5C4F-8DD476A4FA78}"/>
              </a:ext>
            </a:extLst>
          </p:cNvPr>
          <p:cNvSpPr txBox="1"/>
          <p:nvPr/>
        </p:nvSpPr>
        <p:spPr>
          <a:xfrm>
            <a:off x="1160205" y="2819521"/>
            <a:ext cx="651878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3200" b="1">
                <a:ln/>
                <a:solidFill>
                  <a:schemeClr val="accent3"/>
                </a:solidFill>
              </a:rPr>
              <a:t>Sales Data Analysis using 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FA77A-21D6-4A32-EFB2-FB1B3AB3D8AA}"/>
              </a:ext>
            </a:extLst>
          </p:cNvPr>
          <p:cNvSpPr txBox="1"/>
          <p:nvPr/>
        </p:nvSpPr>
        <p:spPr>
          <a:xfrm>
            <a:off x="840656" y="4014949"/>
            <a:ext cx="663677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b="1">
                <a:ln/>
                <a:solidFill>
                  <a:schemeClr val="accent3"/>
                </a:solidFill>
              </a:rPr>
              <a:t>Extracting Insights from Transactional Data</a:t>
            </a:r>
          </a:p>
        </p:txBody>
      </p:sp>
    </p:spTree>
    <p:extLst>
      <p:ext uri="{BB962C8B-B14F-4D97-AF65-F5344CB8AC3E}">
        <p14:creationId xmlns:p14="http://schemas.microsoft.com/office/powerpoint/2010/main" val="2015178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FB2519-715E-86C7-F92A-073E1D01BA62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A7247D-2D23-6BAE-5402-631C68317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59E8C39-0F48-E410-588C-6942A3016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70C0EC0-667B-4BBC-62C4-31F57823C6B5}"/>
              </a:ext>
            </a:extLst>
          </p:cNvPr>
          <p:cNvSpPr txBox="1"/>
          <p:nvPr/>
        </p:nvSpPr>
        <p:spPr>
          <a:xfrm>
            <a:off x="1120877" y="609600"/>
            <a:ext cx="793463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🎯 </a:t>
            </a:r>
            <a:r>
              <a:rPr lang="en-IN" sz="2400" b="1">
                <a:solidFill>
                  <a:schemeClr val="bg1"/>
                </a:solidFill>
              </a:rPr>
              <a:t>Problem Statement 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Businesses generate large volumes of sales data, but without analysis, it’s difficult to understand performance, customer behavior, and growth opportunities.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👉 </a:t>
            </a:r>
            <a:r>
              <a:rPr lang="en-IN" b="1">
                <a:solidFill>
                  <a:schemeClr val="bg1"/>
                </a:solidFill>
              </a:rPr>
              <a:t>Goal:</a:t>
            </a:r>
            <a:r>
              <a:rPr lang="en-IN">
                <a:solidFill>
                  <a:schemeClr val="bg1"/>
                </a:solidFill>
              </a:rPr>
              <a:t> Use SQL to answer key business questions and uncover actionable insights from the sales data.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Analyze sales dataset using SQL queries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Answer key business questions around revenue, customers, and trends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Convert raw data into actionable insights </a:t>
            </a:r>
          </a:p>
          <a:p>
            <a:br>
              <a:rPr lang="en-IN">
                <a:solidFill>
                  <a:schemeClr val="bg1"/>
                </a:solidFill>
              </a:rPr>
            </a:br>
            <a:r>
              <a:rPr lang="en-IN" b="1">
                <a:solidFill>
                  <a:schemeClr val="bg1"/>
                </a:solidFill>
              </a:rPr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Dataset: sales_data_sample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Includes: Orders, Customers, Products, Countries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Key metrics: Sales, Quantity, Order Date,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chemeClr val="bg1"/>
              </a:solidFill>
            </a:endParaRPr>
          </a:p>
          <a:p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424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811B-7278-C2D8-DD16-E12CE964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C349CAF-EB41-B004-3493-213EE58FADA3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2B2FA0-A610-E1C9-90DE-C61E2BA53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4EDC204-369B-6589-842C-FF46B2B61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398C7D-2FF6-E27E-8EB2-72FE47857B1F}"/>
              </a:ext>
            </a:extLst>
          </p:cNvPr>
          <p:cNvSpPr txBox="1"/>
          <p:nvPr/>
        </p:nvSpPr>
        <p:spPr>
          <a:xfrm>
            <a:off x="766915" y="235679"/>
            <a:ext cx="95077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Q1: What is the total sales amount?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Answer: 10,032,628.85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</a:p>
          <a:p>
            <a:r>
              <a:rPr lang="en-IN">
                <a:solidFill>
                  <a:schemeClr val="bg1"/>
                </a:solidFill>
              </a:rPr>
              <a:t>- The business has generated </a:t>
            </a:r>
            <a:r>
              <a:rPr lang="en-IN" b="1">
                <a:solidFill>
                  <a:schemeClr val="bg1"/>
                </a:solidFill>
              </a:rPr>
              <a:t>over 10M in revenue</a:t>
            </a:r>
            <a:r>
              <a:rPr lang="en-IN">
                <a:solidFill>
                  <a:schemeClr val="bg1"/>
                </a:solidFill>
              </a:rPr>
              <a:t>, indicating strong overall performance.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This acts as a benchmark for evaluating growth and success.</a:t>
            </a:r>
          </a:p>
          <a:p>
            <a:endParaRPr lang="en-IN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C6DC7-6680-8183-1E0D-9DA85EB47F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5" y="2544003"/>
            <a:ext cx="7718324" cy="411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69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09FF-22C0-FEB1-D1E8-E8B907B4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3EA8D03-03CC-05C9-793F-418503616CB6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F6148E-0185-3A86-2359-E52D8D973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A8C29A-7632-C428-FDB9-91268D582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BBE3C0-8B24-7D1A-BD54-9AA0A7EC8976}"/>
              </a:ext>
            </a:extLst>
          </p:cNvPr>
          <p:cNvSpPr txBox="1"/>
          <p:nvPr/>
        </p:nvSpPr>
        <p:spPr>
          <a:xfrm>
            <a:off x="825910" y="412954"/>
            <a:ext cx="95274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Q2: Which country generates the highest sales?</a:t>
            </a:r>
          </a:p>
          <a:p>
            <a:pPr algn="ctr"/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USA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The USA is the </a:t>
            </a:r>
            <a:r>
              <a:rPr lang="en-IN" b="1">
                <a:solidFill>
                  <a:schemeClr val="bg1"/>
                </a:solidFill>
              </a:rPr>
              <a:t>top revenue contributor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Suggests strong market demand → focus marketing &amp; retention strategies here.</a:t>
            </a:r>
          </a:p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9590-54CF-AB72-18B1-46EC1B1EA9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10" y="2627010"/>
            <a:ext cx="7905135" cy="406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95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8316-B996-F993-BD37-05535FC7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7B40197-8705-8226-80F2-9E6EDA67F84E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F79B5F-716E-B884-326E-B8869104E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04534A-6095-6029-7429-9C16EC9DB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33592D-E44D-602D-6688-1456821C694C}"/>
              </a:ext>
            </a:extLst>
          </p:cNvPr>
          <p:cNvSpPr txBox="1"/>
          <p:nvPr/>
        </p:nvSpPr>
        <p:spPr>
          <a:xfrm>
            <a:off x="786580" y="308207"/>
            <a:ext cx="95077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Q3: What is the average order value?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32679.57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Shows how much customers spend per order.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Helps evaluate </a:t>
            </a:r>
            <a:r>
              <a:rPr lang="en-IN" b="1">
                <a:solidFill>
                  <a:schemeClr val="bg1"/>
                </a:solidFill>
              </a:rPr>
              <a:t>pricing strategy and customer purchasing behavior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Higher AOV = better revenue efficiency.</a:t>
            </a:r>
          </a:p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7542D-8F73-2A64-0A61-CAB08D320D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02" y="2893530"/>
            <a:ext cx="7801550" cy="38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98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EDEB-8D17-E93D-12E1-10F3FD22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CB5311-6D21-4DB8-489F-116CF406CE67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02D0BC-AA97-D8B8-0849-EF2647793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06423A-F72D-67DF-70C8-97CB01B3D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B397C00-7894-6429-4901-17326B7F1894}"/>
              </a:ext>
            </a:extLst>
          </p:cNvPr>
          <p:cNvSpPr txBox="1"/>
          <p:nvPr/>
        </p:nvSpPr>
        <p:spPr>
          <a:xfrm>
            <a:off x="786581" y="403123"/>
            <a:ext cx="98027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Q4: Which order status occurs most frequently?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</a:t>
            </a:r>
            <a:r>
              <a:rPr lang="en-IN" b="1">
                <a:solidFill>
                  <a:schemeClr val="bg1"/>
                </a:solidFill>
              </a:rPr>
              <a:t>Shipped</a:t>
            </a:r>
            <a:endParaRPr lang="en-IN">
              <a:solidFill>
                <a:schemeClr val="bg1"/>
              </a:solidFill>
            </a:endParaRP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Majority of orders are successfully completed.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Indicates </a:t>
            </a:r>
            <a:r>
              <a:rPr lang="en-IN" b="1">
                <a:solidFill>
                  <a:schemeClr val="bg1"/>
                </a:solidFill>
              </a:rPr>
              <a:t>efficient operations and fulfillment process</a:t>
            </a:r>
            <a:r>
              <a:rPr lang="en-IN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B6F63-3C4A-4C67-3F9B-4AC6A74105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88" y="2654711"/>
            <a:ext cx="7811064" cy="4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2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D469-30E1-58AE-140B-D5DA19B1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58D4A02-7AFF-BFD3-6FD3-C8DAC7634DFB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65385F-172B-82FB-3164-E3DA4BEBC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77F3EF-ED29-827B-9636-B89574CD1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AB9F1E9-EC76-150E-D653-13BA9B8E97DD}"/>
              </a:ext>
            </a:extLst>
          </p:cNvPr>
          <p:cNvSpPr txBox="1"/>
          <p:nvPr/>
        </p:nvSpPr>
        <p:spPr>
          <a:xfrm>
            <a:off x="914401" y="198980"/>
            <a:ext cx="92619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Q5: Who are the top 5 customers by total sales?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Euro Shopping Channel, Mini Gifts Distributions Ltd, Australian Collectors. Co,</a:t>
            </a:r>
          </a:p>
          <a:p>
            <a:r>
              <a:rPr lang="en-IN">
                <a:solidFill>
                  <a:schemeClr val="bg1"/>
                </a:solidFill>
              </a:rPr>
              <a:t>               Muscle Machine Inc, La Rochelle Gifts.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A small group of customers contributes a large portion of revenue.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Highlights </a:t>
            </a:r>
            <a:r>
              <a:rPr lang="en-IN" b="1">
                <a:solidFill>
                  <a:schemeClr val="bg1"/>
                </a:solidFill>
              </a:rPr>
              <a:t>high-value customers → ideal for loyalty programs &amp; retention</a:t>
            </a:r>
            <a:r>
              <a:rPr lang="en-IN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6A2D9-3855-5427-8E98-FF0C4597B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600990"/>
            <a:ext cx="7708489" cy="405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97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BA10-29FC-1DF4-7DC7-A120CBD6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676B601-47D0-83B1-A5E4-88709FA2E6C6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603538-9796-0B36-5927-A973C37AF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9854AE0-FBDA-0F99-12BE-98A9165C9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4EF8CD4-7545-0EA1-F845-01C1ECB82743}"/>
              </a:ext>
            </a:extLst>
          </p:cNvPr>
          <p:cNvSpPr txBox="1"/>
          <p:nvPr/>
        </p:nvSpPr>
        <p:spPr>
          <a:xfrm>
            <a:off x="1071714" y="250723"/>
            <a:ext cx="96946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Q6: How are sales distributed by product line?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Classic cars, Vintage cars, Motorcycles, Trucks &amp; Buses, Planes, Ships, Trains.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Some product lines outperform others.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Helps identify </a:t>
            </a:r>
            <a:r>
              <a:rPr lang="en-IN" b="1">
                <a:solidFill>
                  <a:schemeClr val="bg1"/>
                </a:solidFill>
              </a:rPr>
              <a:t>best-selling vs low-performing categories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Supports inventory and marketing decisions.</a:t>
            </a:r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50FBF-AE81-D453-49A8-9C51647C99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374" y="2772697"/>
            <a:ext cx="7462684" cy="38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81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D677-E469-3A58-ACCE-5245A740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B043545-A9D2-311A-8EE0-5F6957B92A28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AD00DF-4E9A-233D-3C93-A338A93B4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5B5BE0A-15E3-5BEE-AE13-E0246DB1E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75802A5-C3BB-DB88-86C7-AF049F88A3F6}"/>
              </a:ext>
            </a:extLst>
          </p:cNvPr>
          <p:cNvSpPr txBox="1"/>
          <p:nvPr/>
        </p:nvSpPr>
        <p:spPr>
          <a:xfrm>
            <a:off x="776748" y="422787"/>
            <a:ext cx="90653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Q7: What is the monthly sales trend?</a:t>
            </a:r>
          </a:p>
          <a:p>
            <a:endParaRPr lang="en-IN" b="1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Answer:</a:t>
            </a:r>
            <a:r>
              <a:rPr lang="en-IN">
                <a:solidFill>
                  <a:schemeClr val="bg1"/>
                </a:solidFill>
              </a:rPr>
              <a:t> Sales increase steadily over time, peaking in the final months—indicating  </a:t>
            </a:r>
          </a:p>
          <a:p>
            <a:r>
              <a:rPr lang="en-IN">
                <a:solidFill>
                  <a:schemeClr val="bg1"/>
                </a:solidFill>
              </a:rPr>
              <a:t>                 strong seasonality and year-end demand.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 b="1">
                <a:solidFill>
                  <a:schemeClr val="bg1"/>
                </a:solidFill>
              </a:rPr>
              <a:t>Insight: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Sales fluctuate across months → indicates </a:t>
            </a:r>
            <a:r>
              <a:rPr lang="en-IN" b="1">
                <a:solidFill>
                  <a:schemeClr val="bg1"/>
                </a:solidFill>
              </a:rPr>
              <a:t>seasonality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Useful for </a:t>
            </a:r>
            <a:r>
              <a:rPr lang="en-IN" b="1">
                <a:solidFill>
                  <a:schemeClr val="bg1"/>
                </a:solidFill>
              </a:rPr>
              <a:t>forecasting and campaign planning</a:t>
            </a:r>
            <a:r>
              <a:rPr lang="en-IN">
                <a:solidFill>
                  <a:schemeClr val="bg1"/>
                </a:solidFill>
              </a:rPr>
              <a:t>.</a:t>
            </a:r>
          </a:p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37401-A44A-38EF-D172-04A9DC3E1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7" y="2731111"/>
            <a:ext cx="7715500" cy="402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35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5A85-2BF8-C565-8803-DF6C155BA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C8F6D62-6358-E679-12F3-F5164B29D2A3}"/>
              </a:ext>
            </a:extLst>
          </p:cNvPr>
          <p:cNvGrpSpPr/>
          <p:nvPr/>
        </p:nvGrpSpPr>
        <p:grpSpPr>
          <a:xfrm>
            <a:off x="0" y="0"/>
            <a:ext cx="12192000" cy="6939112"/>
            <a:chOff x="0" y="0"/>
            <a:chExt cx="12192000" cy="693911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A509A6-DAB8-FA49-6E3E-28D55CB44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E9B0E1-E75A-A233-0F60-71CBAD19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99" y="4795688"/>
              <a:ext cx="2152950" cy="21434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F20EC0-5066-246B-8442-30E810B0BB6E}"/>
              </a:ext>
            </a:extLst>
          </p:cNvPr>
          <p:cNvSpPr txBox="1"/>
          <p:nvPr/>
        </p:nvSpPr>
        <p:spPr>
          <a:xfrm>
            <a:off x="550607" y="366519"/>
            <a:ext cx="861305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bg1"/>
                </a:solidFill>
              </a:rPr>
              <a:t>Final Business Insights </a:t>
            </a:r>
          </a:p>
          <a:p>
            <a:pPr algn="ctr"/>
            <a:endParaRPr lang="en-IN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Revenue exceeds </a:t>
            </a:r>
            <a:r>
              <a:rPr lang="en-IN" b="1">
                <a:solidFill>
                  <a:schemeClr val="bg1"/>
                </a:solidFill>
              </a:rPr>
              <a:t>10M+</a:t>
            </a:r>
            <a:endParaRPr lang="en-I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USA dominates sales contribution.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Few customers drive major revenue.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Strong order fulfillment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Clear seasonal trends in sales.</a:t>
            </a:r>
          </a:p>
          <a:p>
            <a:endParaRPr lang="en-IN">
              <a:solidFill>
                <a:schemeClr val="bg1"/>
              </a:solidFill>
            </a:endParaRPr>
          </a:p>
          <a:p>
            <a:pPr algn="ctr"/>
            <a:r>
              <a:rPr lang="en-IN" b="1">
                <a:solidFill>
                  <a:schemeClr val="bg1"/>
                </a:solidFill>
              </a:rPr>
              <a:t>Conclusion</a:t>
            </a:r>
          </a:p>
          <a:p>
            <a:pPr algn="ctr"/>
            <a:endParaRPr lang="en-IN" b="1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This analysis demonstrates how SQL can transform raw sales data into meaningful business insights.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- The business has achieved </a:t>
            </a:r>
            <a:r>
              <a:rPr lang="en-IN" b="1">
                <a:solidFill>
                  <a:schemeClr val="bg1"/>
                </a:solidFill>
              </a:rPr>
              <a:t>over 10M in revenue</a:t>
            </a:r>
            <a:r>
              <a:rPr lang="en-IN">
                <a:solidFill>
                  <a:schemeClr val="bg1"/>
                </a:solidFill>
              </a:rPr>
              <a:t>, with strong performance    </a:t>
            </a:r>
          </a:p>
          <a:p>
            <a:r>
              <a:rPr lang="en-IN">
                <a:solidFill>
                  <a:schemeClr val="bg1"/>
                </a:solidFill>
              </a:rPr>
              <a:t>     driven by key markets like the </a:t>
            </a:r>
            <a:r>
              <a:rPr lang="en-IN" b="1">
                <a:solidFill>
                  <a:schemeClr val="bg1"/>
                </a:solidFill>
              </a:rPr>
              <a:t>USA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A small group of customers contributes significantly to sales, highlighting the </a:t>
            </a:r>
          </a:p>
          <a:p>
            <a:r>
              <a:rPr lang="en-IN">
                <a:solidFill>
                  <a:schemeClr val="bg1"/>
                </a:solidFill>
              </a:rPr>
              <a:t>     importance of </a:t>
            </a:r>
            <a:r>
              <a:rPr lang="en-IN" b="1">
                <a:solidFill>
                  <a:schemeClr val="bg1"/>
                </a:solidFill>
              </a:rPr>
              <a:t>customer retention strategies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Product performance and monthly trends reveal </a:t>
            </a:r>
            <a:r>
              <a:rPr lang="en-IN" b="1">
                <a:solidFill>
                  <a:schemeClr val="bg1"/>
                </a:solidFill>
              </a:rPr>
              <a:t>clear opportunities for </a:t>
            </a:r>
          </a:p>
          <a:p>
            <a:r>
              <a:rPr lang="en-IN" b="1">
                <a:solidFill>
                  <a:schemeClr val="bg1"/>
                </a:solidFill>
              </a:rPr>
              <a:t>     optimization and growth</a:t>
            </a:r>
            <a:r>
              <a:rPr lang="en-IN">
                <a:solidFill>
                  <a:schemeClr val="bg1"/>
                </a:solidFill>
              </a:rPr>
              <a:t>.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- The noticeable </a:t>
            </a:r>
            <a:r>
              <a:rPr lang="en-IN" b="1">
                <a:solidFill>
                  <a:schemeClr val="bg1"/>
                </a:solidFill>
              </a:rPr>
              <a:t>year-end sales peak</a:t>
            </a:r>
            <a:r>
              <a:rPr lang="en-IN">
                <a:solidFill>
                  <a:schemeClr val="bg1"/>
                </a:solidFill>
              </a:rPr>
              <a:t> indicates strong seasonality, useful for </a:t>
            </a:r>
          </a:p>
          <a:p>
            <a:r>
              <a:rPr lang="en-IN">
                <a:solidFill>
                  <a:schemeClr val="bg1"/>
                </a:solidFill>
              </a:rPr>
              <a:t>     future planning.</a:t>
            </a:r>
          </a:p>
          <a:p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477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{19BAFD66-D0EE-4889-A6F2-CFF1925C3DD7}TF37254b02-f5b5-44b0-803d-e6af9466a024d8712c6d-28d3f990fef7</Template>
  <TotalTime>42</TotalTime>
  <Words>563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Shree B</dc:creator>
  <cp:lastModifiedBy>Chaithra Shree B</cp:lastModifiedBy>
  <cp:revision>1</cp:revision>
  <dcterms:created xsi:type="dcterms:W3CDTF">2026-04-14T12:32:33Z</dcterms:created>
  <dcterms:modified xsi:type="dcterms:W3CDTF">2026-04-14T13:15:27Z</dcterms:modified>
</cp:coreProperties>
</file>